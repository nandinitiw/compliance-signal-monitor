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2A43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0F2A43"/>
                </a:solidFill>
                <a:latin typeface="Calibri"/>
              </a:rPr>
              <a:t>Pipeline eval score (of 100)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Composite score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500" u="none">
                    <a:solidFill>
                      <a:srgbClr val="0F2A4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Baseline</c:v>
                  </c:pt>
                  <c:pt idx="1">
                    <c:v>After fixes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57.9</c:v>
                </c:pt>
                <c:pt idx="1">
                  <c:v>86.8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500" u="none">
                  <a:solidFill>
                    <a:srgbClr val="0F2A4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1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one-liner: I built a multi-agent system that turns regulatory updates into machine-checkable compliance rules. The hard part wasn't producing output — it was producing output trustworthy enough to act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funnel: monitor -&gt; triage -&gt; translate to a rule. Manual, slow, and hard to audit. Emphasize the auditability requirement — it's a compliance setting.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quotable thesis — say it verbatim. It signals you think about agents the right way: models do judgment, code does verification.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Note the two orange stages are pure code, not LLMs. The gates are the escalation points — applicability and grounding.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point: because syntax and existence are settled by code, the LLM critic can focus purely on logic. Mention the validator false-positive bug you fixed if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safety story — every run resolves to one of three outcomes by real checks, not a single confidence number. Nothing auto-approves silently.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Traceability is a first-class feature, not an afterthought. In a compliance setting you must be able to answer 'why did it do that' for any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Evaluation rigor is rare in portfolios and impressive here. Tell the false-positive story: a guardrail that cries wolf is nearly as bad as none.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reliability (zero crashes), then the honesty of the review rate. The 52-&gt;24 drop shows engineering judgment, not just building.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transferable lesson: verification between reasoning steps and measuring agent quality. This is the instinct that matters for any system that acts on its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7955280" y="1554480"/>
            <a:ext cx="4754880" cy="47548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1371600"/>
            <a:ext cx="914400" cy="91440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00200"/>
            <a:ext cx="457200" cy="4572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0080" y="2514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AI  ·  COMPLIANCE INFRASTRUCTURE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640080" y="2834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Signal Monitor</a:t>
            </a:r>
            <a:endParaRPr lang="en-US" sz="5200" dirty="0"/>
          </a:p>
        </p:txBody>
      </p:sp>
      <p:sp>
        <p:nvSpPr>
          <p:cNvPr id="7" name="Text 3"/>
          <p:cNvSpPr/>
          <p:nvPr/>
        </p:nvSpPr>
        <p:spPr>
          <a:xfrm>
            <a:off x="640080" y="38404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multi-agent system that turns regulatory updates into reviewed,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machine-checkable compliance rules — grounded, routed, and fully auditable.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64008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Nandini Tiwari</a:t>
            </a:r>
            <a:pPr indent="0" marL="0">
              <a:buNone/>
            </a:pPr>
            <a:r>
              <a:rPr lang="en-US" sz="14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Software Engineering — AI Pipeline &amp; Agent Design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66294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13232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regulation into runnable rules is slow and manual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160020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teams must watch a public healthcare-compliance work-plan source, decide which updates matter, and translate each relevant one into a concrete detection rule that runs against claims data. By hand, this is a bottleneck.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32004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goal: automate the whole funnel — while keeping a human in control of what ships.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943600" y="1600200"/>
            <a:ext cx="5577840" cy="1371600"/>
          </a:xfrm>
          <a:prstGeom prst="roundRect">
            <a:avLst>
              <a:gd name="adj" fmla="val 5333"/>
            </a:avLst>
          </a:prstGeom>
          <a:solidFill>
            <a:srgbClr val="F1F6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172200" y="1965960"/>
            <a:ext cx="640080" cy="64008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2220" y="21259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40880" y="18288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7040880" y="2221992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and updated items appear continuously; easy to fall behind.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943600" y="3172968"/>
            <a:ext cx="5577840" cy="1371600"/>
          </a:xfrm>
          <a:prstGeom prst="roundRect">
            <a:avLst>
              <a:gd name="adj" fmla="val 5333"/>
            </a:avLst>
          </a:prstGeom>
          <a:solidFill>
            <a:srgbClr val="F1F6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172200" y="3538728"/>
            <a:ext cx="640080" cy="64008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220" y="3698748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040880" y="34015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7040880" y="379476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concern must become precise, valid detection logic — not prose.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943600" y="4745736"/>
            <a:ext cx="5577840" cy="1371600"/>
          </a:xfrm>
          <a:prstGeom prst="roundRect">
            <a:avLst>
              <a:gd name="adj" fmla="val 5333"/>
            </a:avLst>
          </a:prstGeom>
          <a:solidFill>
            <a:srgbClr val="F1F6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172200" y="5111496"/>
            <a:ext cx="640080" cy="64008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2220" y="5271516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040880" y="497433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Auditability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7040880" y="536752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must be explainable and traceable for compliance.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PRINCIPLE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 models judge. Let code verify.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hallucinate confidently — inventing a billing code or a data field that looks perfectly plausible. So reasoning steps are separated by hard, deterministic checks that catch errors mechanically instead of trusting them.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5257800" cy="3108960"/>
          </a:xfrm>
          <a:prstGeom prst="roundRect">
            <a:avLst>
              <a:gd name="adj" fmla="val 2941"/>
            </a:avLst>
          </a:prstGeom>
          <a:solidFill>
            <a:srgbClr val="163A5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3429000"/>
            <a:ext cx="868680" cy="86868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8730" y="3646170"/>
            <a:ext cx="434340" cy="4343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48840" y="3520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 LANGUAGE MODEL 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148840" y="382219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Judgment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051560" y="461772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Interpreting the concern, choosing relevant codes, mapping intent to data, drafting logic, reviewing for scope and quality.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263640" y="3017520"/>
            <a:ext cx="5257800" cy="3108960"/>
          </a:xfrm>
          <a:prstGeom prst="roundRect">
            <a:avLst>
              <a:gd name="adj" fmla="val 2941"/>
            </a:avLst>
          </a:prstGeom>
          <a:solidFill>
            <a:srgbClr val="163A5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675120" y="3429000"/>
            <a:ext cx="868680" cy="868680"/>
          </a:xfrm>
          <a:prstGeom prst="ellipse">
            <a:avLst/>
          </a:prstGeom>
          <a:solidFill>
            <a:srgbClr val="D9770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2290" y="3646170"/>
            <a:ext cx="434340" cy="4343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772400" y="3520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C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DETERMINISTIC CODE ]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7772400" y="382219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6675120" y="461772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Proving codes were really looked up, parsing the query, rejecting fields or tables that don't exist — with certainty, not hope.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66294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13232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specialized agents, checked between each step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965960"/>
            <a:ext cx="1358537" cy="2148840"/>
          </a:xfrm>
          <a:prstGeom prst="roundRect">
            <a:avLst>
              <a:gd name="adj" fmla="val 5385"/>
            </a:avLst>
          </a:prstGeom>
          <a:solidFill>
            <a:srgbClr val="F1F6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99309" y="2194560"/>
            <a:ext cx="640080" cy="64008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329" y="235458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9808" y="20848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713232" y="2971800"/>
            <a:ext cx="12122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Interpreter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685800" y="3429000"/>
            <a:ext cx="126709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the concern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640080" y="3822192"/>
            <a:ext cx="13585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1980329" y="265176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2227217" y="1965960"/>
            <a:ext cx="1358537" cy="2148840"/>
          </a:xfrm>
          <a:prstGeom prst="roundRect">
            <a:avLst>
              <a:gd name="adj" fmla="val 5385"/>
            </a:avLst>
          </a:prstGeom>
          <a:solidFill>
            <a:srgbClr val="F1F6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586446" y="2194560"/>
            <a:ext cx="640080" cy="64008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6466" y="235458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336945" y="20848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2300369" y="2971800"/>
            <a:ext cx="12122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2272937" y="3429000"/>
            <a:ext cx="126709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up official codes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2227217" y="3822192"/>
            <a:ext cx="13585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3567466" y="265176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3814354" y="1965960"/>
            <a:ext cx="1358537" cy="2148840"/>
          </a:xfrm>
          <a:prstGeom prst="roundRect">
            <a:avLst>
              <a:gd name="adj" fmla="val 5385"/>
            </a:avLst>
          </a:prstGeom>
          <a:solidFill>
            <a:srgbClr val="F1F6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173583" y="2194560"/>
            <a:ext cx="640080" cy="64008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603" y="2354580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924082" y="20848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6" name="Text 20"/>
          <p:cNvSpPr/>
          <p:nvPr/>
        </p:nvSpPr>
        <p:spPr>
          <a:xfrm>
            <a:off x="3887506" y="2971800"/>
            <a:ext cx="12122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Map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3860074" y="3429000"/>
            <a:ext cx="126709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real fields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3814354" y="3822192"/>
            <a:ext cx="13585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850" dirty="0"/>
          </a:p>
        </p:txBody>
      </p:sp>
      <p:sp>
        <p:nvSpPr>
          <p:cNvPr id="29" name="Text 23"/>
          <p:cNvSpPr/>
          <p:nvPr/>
        </p:nvSpPr>
        <p:spPr>
          <a:xfrm>
            <a:off x="5154603" y="265176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0" name="Shape 24"/>
          <p:cNvSpPr/>
          <p:nvPr/>
        </p:nvSpPr>
        <p:spPr>
          <a:xfrm>
            <a:off x="5401491" y="1965960"/>
            <a:ext cx="1358537" cy="2148840"/>
          </a:xfrm>
          <a:prstGeom prst="roundRect">
            <a:avLst>
              <a:gd name="adj" fmla="val 5385"/>
            </a:avLst>
          </a:prstGeom>
          <a:solidFill>
            <a:srgbClr val="F1F6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5760720" y="2194560"/>
            <a:ext cx="640080" cy="64008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0740" y="2354580"/>
            <a:ext cx="320040" cy="32004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511219" y="20848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34" name="Text 27"/>
          <p:cNvSpPr/>
          <p:nvPr/>
        </p:nvSpPr>
        <p:spPr>
          <a:xfrm>
            <a:off x="5474643" y="2971800"/>
            <a:ext cx="12122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Author</a:t>
            </a:r>
            <a:endParaRPr lang="en-US" sz="1350" dirty="0"/>
          </a:p>
        </p:txBody>
      </p:sp>
      <p:sp>
        <p:nvSpPr>
          <p:cNvPr id="35" name="Text 28"/>
          <p:cNvSpPr/>
          <p:nvPr/>
        </p:nvSpPr>
        <p:spPr>
          <a:xfrm>
            <a:off x="5447211" y="3429000"/>
            <a:ext cx="126709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the query</a:t>
            </a:r>
            <a:endParaRPr lang="en-US" sz="1050" dirty="0"/>
          </a:p>
        </p:txBody>
      </p:sp>
      <p:sp>
        <p:nvSpPr>
          <p:cNvPr id="36" name="Text 29"/>
          <p:cNvSpPr/>
          <p:nvPr/>
        </p:nvSpPr>
        <p:spPr>
          <a:xfrm>
            <a:off x="5401491" y="3822192"/>
            <a:ext cx="13585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850" dirty="0"/>
          </a:p>
        </p:txBody>
      </p:sp>
      <p:sp>
        <p:nvSpPr>
          <p:cNvPr id="37" name="Text 30"/>
          <p:cNvSpPr/>
          <p:nvPr/>
        </p:nvSpPr>
        <p:spPr>
          <a:xfrm>
            <a:off x="6741741" y="265176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8" name="Shape 31"/>
          <p:cNvSpPr/>
          <p:nvPr/>
        </p:nvSpPr>
        <p:spPr>
          <a:xfrm>
            <a:off x="6988629" y="1965960"/>
            <a:ext cx="1358537" cy="2148840"/>
          </a:xfrm>
          <a:prstGeom prst="roundRect">
            <a:avLst>
              <a:gd name="adj" fmla="val 5385"/>
            </a:avLst>
          </a:prstGeom>
          <a:solidFill>
            <a:srgbClr val="FDF3E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7347857" y="2194560"/>
            <a:ext cx="640080" cy="640080"/>
          </a:xfrm>
          <a:prstGeom prst="ellipse">
            <a:avLst/>
          </a:prstGeom>
          <a:solidFill>
            <a:srgbClr val="D9770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7877" y="2354580"/>
            <a:ext cx="320040" cy="32004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7098357" y="20848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42" name="Text 34"/>
          <p:cNvSpPr/>
          <p:nvPr/>
        </p:nvSpPr>
        <p:spPr>
          <a:xfrm>
            <a:off x="7061781" y="2971800"/>
            <a:ext cx="12122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Validator</a:t>
            </a:r>
            <a:endParaRPr lang="en-US" sz="1350" dirty="0"/>
          </a:p>
        </p:txBody>
      </p:sp>
      <p:sp>
        <p:nvSpPr>
          <p:cNvPr id="43" name="Text 35"/>
          <p:cNvSpPr/>
          <p:nvPr/>
        </p:nvSpPr>
        <p:spPr>
          <a:xfrm>
            <a:off x="7034349" y="3429000"/>
            <a:ext cx="126709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· field check</a:t>
            </a:r>
            <a:endParaRPr lang="en-US" sz="1050" dirty="0"/>
          </a:p>
        </p:txBody>
      </p:sp>
      <p:sp>
        <p:nvSpPr>
          <p:cNvPr id="44" name="Text 36"/>
          <p:cNvSpPr/>
          <p:nvPr/>
        </p:nvSpPr>
        <p:spPr>
          <a:xfrm>
            <a:off x="6988629" y="3822192"/>
            <a:ext cx="13585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850" dirty="0"/>
          </a:p>
        </p:txBody>
      </p:sp>
      <p:sp>
        <p:nvSpPr>
          <p:cNvPr id="45" name="Text 37"/>
          <p:cNvSpPr/>
          <p:nvPr/>
        </p:nvSpPr>
        <p:spPr>
          <a:xfrm>
            <a:off x="8328878" y="265176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46" name="Shape 38"/>
          <p:cNvSpPr/>
          <p:nvPr/>
        </p:nvSpPr>
        <p:spPr>
          <a:xfrm>
            <a:off x="8575766" y="1965960"/>
            <a:ext cx="1358537" cy="2148840"/>
          </a:xfrm>
          <a:prstGeom prst="roundRect">
            <a:avLst>
              <a:gd name="adj" fmla="val 5385"/>
            </a:avLst>
          </a:prstGeom>
          <a:solidFill>
            <a:srgbClr val="F1F6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47" name="Shape 39"/>
          <p:cNvSpPr/>
          <p:nvPr/>
        </p:nvSpPr>
        <p:spPr>
          <a:xfrm>
            <a:off x="8934994" y="2194560"/>
            <a:ext cx="640080" cy="64008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5014" y="2354580"/>
            <a:ext cx="320040" cy="320040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8685494" y="20848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50" name="Text 41"/>
          <p:cNvSpPr/>
          <p:nvPr/>
        </p:nvSpPr>
        <p:spPr>
          <a:xfrm>
            <a:off x="8648918" y="2971800"/>
            <a:ext cx="12122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</a:t>
            </a:r>
            <a:endParaRPr lang="en-US" sz="1350" dirty="0"/>
          </a:p>
        </p:txBody>
      </p:sp>
      <p:sp>
        <p:nvSpPr>
          <p:cNvPr id="51" name="Text 42"/>
          <p:cNvSpPr/>
          <p:nvPr/>
        </p:nvSpPr>
        <p:spPr>
          <a:xfrm>
            <a:off x="8621486" y="3429000"/>
            <a:ext cx="126709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the logic</a:t>
            </a:r>
            <a:endParaRPr lang="en-US" sz="1050" dirty="0"/>
          </a:p>
        </p:txBody>
      </p:sp>
      <p:sp>
        <p:nvSpPr>
          <p:cNvPr id="52" name="Text 43"/>
          <p:cNvSpPr/>
          <p:nvPr/>
        </p:nvSpPr>
        <p:spPr>
          <a:xfrm>
            <a:off x="8575766" y="3822192"/>
            <a:ext cx="13585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850" dirty="0"/>
          </a:p>
        </p:txBody>
      </p:sp>
      <p:sp>
        <p:nvSpPr>
          <p:cNvPr id="53" name="Text 44"/>
          <p:cNvSpPr/>
          <p:nvPr/>
        </p:nvSpPr>
        <p:spPr>
          <a:xfrm>
            <a:off x="9916015" y="265176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54" name="Shape 45"/>
          <p:cNvSpPr/>
          <p:nvPr/>
        </p:nvSpPr>
        <p:spPr>
          <a:xfrm>
            <a:off x="10162903" y="1965960"/>
            <a:ext cx="1358537" cy="2148840"/>
          </a:xfrm>
          <a:prstGeom prst="roundRect">
            <a:avLst>
              <a:gd name="adj" fmla="val 5385"/>
            </a:avLst>
          </a:prstGeom>
          <a:solidFill>
            <a:srgbClr val="FDF3E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5" name="Shape 46"/>
          <p:cNvSpPr/>
          <p:nvPr/>
        </p:nvSpPr>
        <p:spPr>
          <a:xfrm>
            <a:off x="10522131" y="2194560"/>
            <a:ext cx="640080" cy="640080"/>
          </a:xfrm>
          <a:prstGeom prst="ellipse">
            <a:avLst/>
          </a:prstGeom>
          <a:solidFill>
            <a:srgbClr val="D9770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5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82151" y="2354580"/>
            <a:ext cx="320040" cy="320040"/>
          </a:xfrm>
          <a:prstGeom prst="rect">
            <a:avLst/>
          </a:prstGeom>
        </p:spPr>
      </p:pic>
      <p:sp>
        <p:nvSpPr>
          <p:cNvPr id="57" name="Text 47"/>
          <p:cNvSpPr/>
          <p:nvPr/>
        </p:nvSpPr>
        <p:spPr>
          <a:xfrm>
            <a:off x="10272631" y="20848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58" name="Text 48"/>
          <p:cNvSpPr/>
          <p:nvPr/>
        </p:nvSpPr>
        <p:spPr>
          <a:xfrm>
            <a:off x="10236055" y="2971800"/>
            <a:ext cx="12122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Packager</a:t>
            </a:r>
            <a:endParaRPr lang="en-US" sz="1350" dirty="0"/>
          </a:p>
        </p:txBody>
      </p:sp>
      <p:sp>
        <p:nvSpPr>
          <p:cNvPr id="59" name="Text 49"/>
          <p:cNvSpPr/>
          <p:nvPr/>
        </p:nvSpPr>
        <p:spPr>
          <a:xfrm>
            <a:off x="10208623" y="3429000"/>
            <a:ext cx="126709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assembles + verdict</a:t>
            </a:r>
            <a:endParaRPr lang="en-US" sz="1050" dirty="0"/>
          </a:p>
        </p:txBody>
      </p:sp>
      <p:sp>
        <p:nvSpPr>
          <p:cNvPr id="60" name="Text 50"/>
          <p:cNvSpPr/>
          <p:nvPr/>
        </p:nvSpPr>
        <p:spPr>
          <a:xfrm>
            <a:off x="10162903" y="3822192"/>
            <a:ext cx="13585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850" dirty="0"/>
          </a:p>
        </p:txBody>
      </p:sp>
      <p:sp>
        <p:nvSpPr>
          <p:cNvPr id="61" name="Shape 51"/>
          <p:cNvSpPr/>
          <p:nvPr/>
        </p:nvSpPr>
        <p:spPr>
          <a:xfrm>
            <a:off x="640080" y="466344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0F2A43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2" name="Shape 52"/>
          <p:cNvSpPr/>
          <p:nvPr/>
        </p:nvSpPr>
        <p:spPr>
          <a:xfrm>
            <a:off x="1005840" y="4983480"/>
            <a:ext cx="777240" cy="77724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6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00150" y="5177790"/>
            <a:ext cx="388620" cy="388620"/>
          </a:xfrm>
          <a:prstGeom prst="rect">
            <a:avLst/>
          </a:prstGeom>
        </p:spPr>
      </p:pic>
      <p:sp>
        <p:nvSpPr>
          <p:cNvPr id="64" name="Text 53"/>
          <p:cNvSpPr/>
          <p:nvPr/>
        </p:nvSpPr>
        <p:spPr>
          <a:xfrm>
            <a:off x="2011680" y="4892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decision gates run inside the pipeline</a:t>
            </a:r>
            <a:endParaRPr lang="en-US" sz="1600" dirty="0"/>
          </a:p>
        </p:txBody>
      </p:sp>
      <p:sp>
        <p:nvSpPr>
          <p:cNvPr id="65" name="Text 54"/>
          <p:cNvSpPr/>
          <p:nvPr/>
        </p:nvSpPr>
        <p:spPr>
          <a:xfrm>
            <a:off x="2011680" y="5285232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Applicable? 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non-billing items stop early (not applicable).      </a:t>
            </a:r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Grounded? 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invented code is flagged before the query is ever written.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66294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13232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 checks catch what LLMs get wrong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5257800" cy="4297680"/>
          </a:xfrm>
          <a:prstGeom prst="roundRect">
            <a:avLst>
              <a:gd name="adj" fmla="val 2128"/>
            </a:avLst>
          </a:prstGeom>
          <a:solidFill>
            <a:srgbClr val="F1F6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097280" y="2057400"/>
            <a:ext cx="914400" cy="91440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228600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31546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Grounding enforcement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1097280" y="3703320"/>
            <a:ext cx="4434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coding agent cannot ship a code it didn't retrieve from a lookup tool. A post-check verifies every output code came from a real tool call.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1097280" y="5074920"/>
            <a:ext cx="4434840" cy="685800"/>
          </a:xfrm>
          <a:prstGeom prst="roundRect">
            <a:avLst>
              <a:gd name="adj" fmla="val 8000"/>
            </a:avLst>
          </a:prstGeom>
          <a:solidFill>
            <a:srgbClr val="E3EFEC"/>
          </a:solidFill>
          <a:ln/>
        </p:spPr>
      </p:sp>
      <p:sp>
        <p:nvSpPr>
          <p:cNvPr id="12" name="Text 8"/>
          <p:cNvSpPr/>
          <p:nvPr/>
        </p:nvSpPr>
        <p:spPr>
          <a:xfrm>
            <a:off x="1280160" y="507492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Catches: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fabricated billing / diagnosis codes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263640" y="1691640"/>
            <a:ext cx="5257800" cy="4297680"/>
          </a:xfrm>
          <a:prstGeom prst="roundRect">
            <a:avLst>
              <a:gd name="adj" fmla="val 2128"/>
            </a:avLst>
          </a:prstGeom>
          <a:solidFill>
            <a:srgbClr val="F1F6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720840" y="2057400"/>
            <a:ext cx="914400" cy="91440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228600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720840" y="31546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 SQL validator</a:t>
            </a:r>
            <a:endParaRPr lang="en-US" sz="2100" dirty="0"/>
          </a:p>
        </p:txBody>
      </p:sp>
      <p:sp>
        <p:nvSpPr>
          <p:cNvPr id="17" name="Text 12"/>
          <p:cNvSpPr/>
          <p:nvPr/>
        </p:nvSpPr>
        <p:spPr>
          <a:xfrm>
            <a:off x="6720840" y="3703320"/>
            <a:ext cx="4434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reviewer weighs in, the drafted query is parsed into a syntax tree and checked against the real schema — no LLM involved.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6720840" y="5074920"/>
            <a:ext cx="4434840" cy="685800"/>
          </a:xfrm>
          <a:prstGeom prst="roundRect">
            <a:avLst>
              <a:gd name="adj" fmla="val 8000"/>
            </a:avLst>
          </a:prstGeom>
          <a:solidFill>
            <a:srgbClr val="E3EFEC"/>
          </a:solidFill>
          <a:ln/>
        </p:spPr>
      </p:sp>
      <p:sp>
        <p:nvSpPr>
          <p:cNvPr id="19" name="Text 14"/>
          <p:cNvSpPr/>
          <p:nvPr/>
        </p:nvSpPr>
        <p:spPr>
          <a:xfrm>
            <a:off x="6903720" y="507492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Catches: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 fields, unknown tables, bad syntax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66294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ROUTING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13232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outcomes — never a silent auto-approve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383280" cy="4114800"/>
          </a:xfrm>
          <a:prstGeom prst="roundRect">
            <a:avLst>
              <a:gd name="adj" fmla="val 2703"/>
            </a:avLst>
          </a:prstGeom>
          <a:solidFill>
            <a:srgbClr val="F1F6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828800" y="2148840"/>
            <a:ext cx="1005840" cy="1005840"/>
          </a:xfrm>
          <a:prstGeom prst="ellipse">
            <a:avLst/>
          </a:prstGeom>
          <a:solidFill>
            <a:srgbClr val="D9770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260" y="2400300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3337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applicable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960120" y="38862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960120" y="41148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Interpreter's gate found no billing-rule concern.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960120" y="4937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960120" y="51663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rule authored — recorded for completeness.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389120" y="1783080"/>
            <a:ext cx="3383280" cy="4114800"/>
          </a:xfrm>
          <a:prstGeom prst="roundRect">
            <a:avLst>
              <a:gd name="adj" fmla="val 2703"/>
            </a:avLst>
          </a:prstGeom>
          <a:solidFill>
            <a:srgbClr val="F1F6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577840" y="2148840"/>
            <a:ext cx="1005840" cy="1005840"/>
          </a:xfrm>
          <a:prstGeom prst="ellipse">
            <a:avLst/>
          </a:prstGeom>
          <a:solidFill>
            <a:srgbClr val="DC262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0" y="240030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572000" y="3337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Needs human review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4709160" y="38862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4709160" y="41148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grounding failed, or the Critic found issues.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709160" y="4937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4709160" y="51663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with reviewer notes explaining exactly why.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8138160" y="1783080"/>
            <a:ext cx="3383280" cy="4114800"/>
          </a:xfrm>
          <a:prstGeom prst="roundRect">
            <a:avLst>
              <a:gd name="adj" fmla="val 2703"/>
            </a:avLst>
          </a:prstGeom>
          <a:solidFill>
            <a:srgbClr val="F1F6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326880" y="2148840"/>
            <a:ext cx="1005840" cy="1005840"/>
          </a:xfrm>
          <a:prstGeom prst="ellipse">
            <a:avLst/>
          </a:prstGeom>
          <a:solidFill>
            <a:srgbClr val="16A34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8340" y="2400300"/>
            <a:ext cx="502920" cy="5029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321040" y="3337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draft</a:t>
            </a:r>
            <a:endParaRPr lang="en-US" sz="1900" dirty="0"/>
          </a:p>
        </p:txBody>
      </p:sp>
      <p:sp>
        <p:nvSpPr>
          <p:cNvPr id="26" name="Text 20"/>
          <p:cNvSpPr/>
          <p:nvPr/>
        </p:nvSpPr>
        <p:spPr>
          <a:xfrm>
            <a:off x="8458200" y="38862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8458200" y="41148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clean, codes grounded, Critic passed.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8458200" y="4937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8458200" y="51663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Surfaced for final human approval — no flags.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70866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&amp; AUDIT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5895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decision is logged and replayable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7315200" cy="1234440"/>
          </a:xfrm>
          <a:prstGeom prst="roundRect">
            <a:avLst>
              <a:gd name="adj" fmla="val 5926"/>
            </a:avLst>
          </a:prstGeom>
          <a:solidFill>
            <a:srgbClr val="163A5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60120" y="2084832"/>
            <a:ext cx="640080" cy="64008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" y="2244852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28800" y="19659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run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828800" y="2350008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version, final status, total cost, and the review verdict.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40080" y="3154680"/>
            <a:ext cx="7315200" cy="1234440"/>
          </a:xfrm>
          <a:prstGeom prst="roundRect">
            <a:avLst>
              <a:gd name="adj" fmla="val 5926"/>
            </a:avLst>
          </a:prstGeom>
          <a:solidFill>
            <a:srgbClr val="163A5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960120" y="3456432"/>
            <a:ext cx="640080" cy="64008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" y="3616452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828800" y="33375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model call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828800" y="3721608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agent, which model, token counts, cost, and full input / output payloads.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40080" y="4526280"/>
            <a:ext cx="7315200" cy="1234440"/>
          </a:xfrm>
          <a:prstGeom prst="roundRect">
            <a:avLst>
              <a:gd name="adj" fmla="val 5926"/>
            </a:avLst>
          </a:prstGeom>
          <a:solidFill>
            <a:srgbClr val="163A5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960120" y="4828032"/>
            <a:ext cx="640080" cy="64008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" y="4988052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828800" y="47091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tool call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1828800" y="5093208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reference-code lookup the coding agent made, individually recorded.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8412480" y="1783080"/>
            <a:ext cx="3108960" cy="3977640"/>
          </a:xfrm>
          <a:prstGeom prst="roundRect">
            <a:avLst>
              <a:gd name="adj" fmla="val 2941"/>
            </a:avLst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9509760" y="2148840"/>
            <a:ext cx="914400" cy="914400"/>
          </a:xfrm>
          <a:prstGeom prst="ellipse">
            <a:avLst/>
          </a:prstGeom>
          <a:solidFill>
            <a:srgbClr val="0F2A43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8360" y="2377440"/>
            <a:ext cx="457200" cy="4572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686800" y="3291840"/>
            <a:ext cx="2560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one run and watch the system “think” — step by step, with what each agent saw and said.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66294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EVALUATION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13232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Measuring the pipeline, not assuming it works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164592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offline harness re-runs the full pipeline against a fixed golden reference set and scores each result on a rubric — completion, valid fields, query parses, reviewer verdict. Scores are tracked over time to catch regressions when a prompt or model changes.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40080" y="365760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validator bug was inflating the review rate — resolving it dropped genuine manual review from ~52% to ~24% without missing real errors.</a:t>
            </a:r>
            <a:endParaRPr lang="en-US" sz="14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035040" y="1783080"/>
          <a:ext cx="54864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66294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13232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Reliable, cheap, and honest about uncertainty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920240"/>
            <a:ext cx="2446020" cy="3566160"/>
          </a:xfrm>
          <a:prstGeom prst="roundRect">
            <a:avLst>
              <a:gd name="adj" fmla="val 3738"/>
            </a:avLst>
          </a:prstGeom>
          <a:solidFill>
            <a:srgbClr val="F1F6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2514600"/>
            <a:ext cx="2171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/ 25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1497330" y="3520440"/>
            <a:ext cx="731520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3703320"/>
            <a:ext cx="18973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completed with zero crashes in batch testing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3451860" y="1920240"/>
            <a:ext cx="2446020" cy="3566160"/>
          </a:xfrm>
          <a:prstGeom prst="roundRect">
            <a:avLst>
              <a:gd name="adj" fmla="val 3738"/>
            </a:avLst>
          </a:prstGeom>
          <a:solidFill>
            <a:srgbClr val="F1F6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589020" y="2514600"/>
            <a:ext cx="2171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~24%</a:t>
            </a:r>
            <a:endParaRPr lang="en-US" sz="4000" dirty="0"/>
          </a:p>
        </p:txBody>
      </p:sp>
      <p:sp>
        <p:nvSpPr>
          <p:cNvPr id="12" name="Shape 9"/>
          <p:cNvSpPr/>
          <p:nvPr/>
        </p:nvSpPr>
        <p:spPr>
          <a:xfrm>
            <a:off x="4309110" y="3520440"/>
            <a:ext cx="73152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726180" y="3703320"/>
            <a:ext cx="18973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human-review rate, down from 52% after guardrail fixes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263640" y="1920240"/>
            <a:ext cx="2446020" cy="3566160"/>
          </a:xfrm>
          <a:prstGeom prst="roundRect">
            <a:avLst>
              <a:gd name="adj" fmla="val 3738"/>
            </a:avLst>
          </a:prstGeom>
          <a:solidFill>
            <a:srgbClr val="F1F6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400800" y="2514600"/>
            <a:ext cx="2171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~11¢</a:t>
            </a:r>
            <a:endParaRPr lang="en-US" sz="4000" dirty="0"/>
          </a:p>
        </p:txBody>
      </p:sp>
      <p:sp>
        <p:nvSpPr>
          <p:cNvPr id="16" name="Shape 13"/>
          <p:cNvSpPr/>
          <p:nvPr/>
        </p:nvSpPr>
        <p:spPr>
          <a:xfrm>
            <a:off x="7120890" y="3520440"/>
            <a:ext cx="731520" cy="0"/>
          </a:xfrm>
          <a:prstGeom prst="line">
            <a:avLst/>
          </a:prstGeom>
          <a:noFill/>
          <a:ln w="25400">
            <a:solidFill>
              <a:srgbClr val="0F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37960" y="3703320"/>
            <a:ext cx="18973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cost per signal processed end to end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9075420" y="1920240"/>
            <a:ext cx="2446020" cy="3566160"/>
          </a:xfrm>
          <a:prstGeom prst="roundRect">
            <a:avLst>
              <a:gd name="adj" fmla="val 3738"/>
            </a:avLst>
          </a:prstGeom>
          <a:solidFill>
            <a:srgbClr val="F1F6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9212580" y="2514600"/>
            <a:ext cx="2171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/ 15</a:t>
            </a:r>
            <a:endParaRPr lang="en-US" sz="4000" dirty="0"/>
          </a:p>
        </p:txBody>
      </p:sp>
      <p:sp>
        <p:nvSpPr>
          <p:cNvPr id="20" name="Shape 17"/>
          <p:cNvSpPr/>
          <p:nvPr/>
        </p:nvSpPr>
        <p:spPr>
          <a:xfrm>
            <a:off x="9932670" y="3520440"/>
            <a:ext cx="73152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349740" y="3703320"/>
            <a:ext cx="18973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SQL-validator unit tests passing, incl. hallucination guards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640080" y="57150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flags its own uncertainty instead of shipping bad SQL — the review rate reflects real issues caught, not noise.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6000"/>
          </a:blip>
          <a:stretch>
            <a:fillRect/>
          </a:stretch>
        </p:blipFill>
        <p:spPr>
          <a:xfrm>
            <a:off x="8229600" y="1463040"/>
            <a:ext cx="4572000" cy="4572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640080"/>
            <a:ext cx="822960" cy="82296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" y="845820"/>
            <a:ext cx="411480" cy="4114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9164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DESIGN MATTERS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1691640" y="93268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agents you can trust to act</a:t>
            </a:r>
            <a:endParaRPr lang="en-US" sz="3000" dirty="0"/>
          </a:p>
        </p:txBody>
      </p:sp>
      <p:sp>
        <p:nvSpPr>
          <p:cNvPr id="7" name="Shape 3"/>
          <p:cNvSpPr/>
          <p:nvPr/>
        </p:nvSpPr>
        <p:spPr>
          <a:xfrm>
            <a:off x="640080" y="1920240"/>
            <a:ext cx="457200" cy="45720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2034540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325880" y="18288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 vs. verification</a:t>
            </a:r>
            <a:endParaRPr lang="en-US" sz="1700" dirty="0"/>
          </a:p>
        </p:txBody>
      </p:sp>
      <p:sp>
        <p:nvSpPr>
          <p:cNvPr id="10" name="Text 5"/>
          <p:cNvSpPr/>
          <p:nvPr/>
        </p:nvSpPr>
        <p:spPr>
          <a:xfrm>
            <a:off x="1325880" y="2194560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reason; deterministic code confirms existence and syntax — hallucinations are caught mechanically, not hopefully.</a:t>
            </a:r>
            <a:endParaRPr lang="en-US" sz="1300" dirty="0"/>
          </a:p>
        </p:txBody>
      </p:sp>
      <p:sp>
        <p:nvSpPr>
          <p:cNvPr id="11" name="Shape 6"/>
          <p:cNvSpPr/>
          <p:nvPr/>
        </p:nvSpPr>
        <p:spPr>
          <a:xfrm>
            <a:off x="640080" y="2971800"/>
            <a:ext cx="457200" cy="45720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3086100"/>
            <a:ext cx="228600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25880" y="28803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enforcement</a:t>
            </a:r>
            <a:endParaRPr lang="en-US" sz="1700" dirty="0"/>
          </a:p>
        </p:txBody>
      </p:sp>
      <p:sp>
        <p:nvSpPr>
          <p:cNvPr id="14" name="Text 8"/>
          <p:cNvSpPr/>
          <p:nvPr/>
        </p:nvSpPr>
        <p:spPr>
          <a:xfrm>
            <a:off x="1325880" y="3246120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literally cannot ship a fact it didn't look up; the post-check proves it.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640080" y="4023360"/>
            <a:ext cx="457200" cy="45720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" y="4137660"/>
            <a:ext cx="228600" cy="2286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325880" y="39319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Confidence-based escalation</a:t>
            </a:r>
            <a:endParaRPr lang="en-US" sz="1700" dirty="0"/>
          </a:p>
        </p:txBody>
      </p:sp>
      <p:sp>
        <p:nvSpPr>
          <p:cNvPr id="18" name="Text 11"/>
          <p:cNvSpPr/>
          <p:nvPr/>
        </p:nvSpPr>
        <p:spPr>
          <a:xfrm>
            <a:off x="1325880" y="4297680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explicit outcomes gated by real checks — never a silent auto-approve.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640080" y="5074920"/>
            <a:ext cx="457200" cy="45720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" y="5189220"/>
            <a:ext cx="228600" cy="2286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325880" y="49834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Traceable &amp; continuously evaluated</a:t>
            </a:r>
            <a:endParaRPr lang="en-US" sz="1700" dirty="0"/>
          </a:p>
        </p:txBody>
      </p:sp>
      <p:sp>
        <p:nvSpPr>
          <p:cNvPr id="22" name="Text 14"/>
          <p:cNvSpPr/>
          <p:nvPr/>
        </p:nvSpPr>
        <p:spPr>
          <a:xfrm>
            <a:off x="1325880" y="5349240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logged and replayable; a golden-set harness scores quality instead of assuming it.</a:t>
            </a:r>
            <a:endParaRPr lang="en-US" sz="1300" dirty="0"/>
          </a:p>
        </p:txBody>
      </p:sp>
      <p:sp>
        <p:nvSpPr>
          <p:cNvPr id="23" name="Text 15"/>
          <p:cNvSpPr/>
          <p:nvPr/>
        </p:nvSpPr>
        <p:spPr>
          <a:xfrm>
            <a:off x="640080" y="6172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instinct scales to any autonomous agent acting with real-world consequences.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Compliance Signal Monitor — Multi-Agent System</dc:title>
  <dc:subject>PptxGenJS Presentation</dc:subject>
  <dc:creator>Nandini Tiwari</dc:creator>
  <cp:lastModifiedBy>Nandini Tiwari</cp:lastModifiedBy>
  <cp:revision>1</cp:revision>
  <dcterms:created xsi:type="dcterms:W3CDTF">2026-07-10T17:32:38Z</dcterms:created>
  <dcterms:modified xsi:type="dcterms:W3CDTF">2026-07-10T17:32:38Z</dcterms:modified>
</cp:coreProperties>
</file>